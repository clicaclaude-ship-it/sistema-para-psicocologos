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91695" cy="338328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PsicoDoc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5DAF0"/>
                </a:solidFill>
              </a:rPr>
              <a:t>Prontuário Eletrônico para Psicólogos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5029200" cy="4572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Guia de Atualização — Versão 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1012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5DAF0"/>
                </a:solidFill>
              </a:rPr>
              <a:t>Passo a passo para atualizar o sistema com as 7 novas funcionalidades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343400"/>
            <a:ext cx="3291840" cy="457200"/>
          </a:xfrm>
          <a:prstGeom prst="rect">
            <a:avLst/>
          </a:prstGeom>
          <a:solidFill>
            <a:srgbClr val="1A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370832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⏱  Tempo estimado: 15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4343400"/>
            <a:ext cx="2834640" cy="457200"/>
          </a:xfrm>
          <a:prstGeom prst="rect">
            <a:avLst/>
          </a:prstGeom>
          <a:solidFill>
            <a:srgbClr val="1A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437083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🗄️  1 SQL no Supabase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4343400"/>
            <a:ext cx="2743200" cy="457200"/>
          </a:xfrm>
          <a:prstGeom prst="rect">
            <a:avLst/>
          </a:prstGeom>
          <a:solidFill>
            <a:srgbClr val="1A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43708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🚀  Deploy automático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029200"/>
            <a:ext cx="5303520" cy="45720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05663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✅  Nenhum conhecimento técnico necessário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A8CC"/>
                </a:solidFill>
              </a:rPr>
              <a:t>Versão 2.0 · Abril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A38"/>
                </a:solidFill>
              </a:rPr>
              <a:t>O que há de novo na Versão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7 melhorias implementadas com base no feedback da psicóloga piloto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4864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411480" cy="105156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49047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8"/>
                </a:solidFill>
              </a:rPr>
              <a:t>Campo de data de nascimento melhorado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856232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Seleção por Dia / Mês / Ano — sem confusão de formatos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51760"/>
            <a:ext cx="54864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411480" cy="105156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2608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72491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8"/>
                </a:solidFill>
              </a:rPr>
              <a:t>Status do paciente atualizado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90672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Agora: Acompanhamento · Em Avaliação · Alta/Desligado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86200"/>
            <a:ext cx="54864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886200"/>
            <a:ext cx="411480" cy="105156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6052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95935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8"/>
                </a:solidFill>
              </a:rPr>
              <a:t>Agendamentos recorrentes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325112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Crie sessões semanais, quinzenais ou mensais de uma só vez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120640"/>
            <a:ext cx="54864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120640"/>
            <a:ext cx="411480" cy="105156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9496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19379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8"/>
                </a:solidFill>
              </a:rPr>
              <a:t>Lembretes por WhatsApp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559552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Mensagem automática 1 dia antes de cada sessão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9400" y="1417320"/>
            <a:ext cx="54864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29400" y="1417320"/>
            <a:ext cx="411480" cy="105156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16916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149047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8"/>
                </a:solidFill>
              </a:rPr>
              <a:t>Feliz aniversário automático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1856232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Mensagem personalizada enviada no dia do aniversário do paciente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29400" y="2651760"/>
            <a:ext cx="54864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29400" y="2651760"/>
            <a:ext cx="411480" cy="1051560"/>
          </a:xfrm>
          <a:prstGeom prst="rect">
            <a:avLst/>
          </a:prstGeom>
          <a:solidFill>
            <a:srgbClr val="7B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292608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272491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8"/>
                </a:solidFill>
              </a:rPr>
              <a:t>Módulo de Contratos Terapêuticos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3090672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Crie e envie contratos para assinatura digital — sem papel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29400" y="3886200"/>
            <a:ext cx="54864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29400" y="3886200"/>
            <a:ext cx="411480" cy="1051560"/>
          </a:xfrm>
          <a:prstGeom prst="rect">
            <a:avLst/>
          </a:prstGeom>
          <a:solidFill>
            <a:srgbClr val="7B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416052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395935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8"/>
                </a:solidFill>
              </a:rPr>
              <a:t>Aba de Laudo no prontuário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325112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Formulário estruturado para laudos neuropsicológicos e psicológicos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E2A38"/>
                </a:solidFill>
              </a:rPr>
              <a:t>Visão geral da atualização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</a:rPr>
              <a:t>Apenas 3 etapas principais — todo o processo leva cerca de 15 minutos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463040"/>
            <a:ext cx="3017520" cy="347472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39" y="1600200"/>
            <a:ext cx="2743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ETAPA 1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🗄️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Banco de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Dados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(Supabase)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8346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463040"/>
            <a:ext cx="3017520" cy="347472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600200"/>
            <a:ext cx="2743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ETAPA 2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📁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Código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Atualizado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(GitHub)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8346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463040"/>
            <a:ext cx="3017520" cy="34747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600200"/>
            <a:ext cx="2743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ETAPA 3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🚀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/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Deploy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Automático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(Vercel)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166360"/>
            <a:ext cx="10881360" cy="54864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⚠️  A ETAPA 1 (SQL) é obrigatória: sem ela, o sistema não funcionará corretamente.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24728"/>
            <a:ext cx="10881360" cy="54864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87044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Se o sistema já estava conectado ao GitHub + Vercel, a ETAPA 3 acontece automaticamente.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28600"/>
            <a:ext cx="1463040" cy="36576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2560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ETAPA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2286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A38"/>
                </a:solidFill>
              </a:rPr>
              <a:t>Atualizar o banco de dados no Supabase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Este passo adiciona as novas tabelas e colunas necessárias para as 7 melhorias.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53949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80160"/>
            <a:ext cx="457200" cy="150876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38988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8"/>
                </a:solidFill>
              </a:rPr>
              <a:t>Acesse o Supabase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1755648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Abra supabase.com no navegador e faça login com sua conta.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71800"/>
            <a:ext cx="53949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971800"/>
            <a:ext cx="457200" cy="150876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308152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8"/>
                </a:solidFill>
              </a:rPr>
              <a:t>Abra seu projeto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447288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Clique no projeto do PsicoDoc (ex.: psicogest-producao).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663440"/>
            <a:ext cx="53949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663440"/>
            <a:ext cx="457200" cy="150876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12064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19" y="477316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8"/>
                </a:solidFill>
              </a:rPr>
              <a:t>Vá em SQL Editor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5138927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No menu lateral esquerdo, clique em 'SQL Editor' (ícone de banco de dados).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280160"/>
            <a:ext cx="53949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1280160"/>
            <a:ext cx="457200" cy="150876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73736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138988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8"/>
                </a:solidFill>
              </a:rPr>
              <a:t>Clique em 'New query'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1755648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Botão no canto superior esquerdo da tela do SQL Editor.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2971800"/>
            <a:ext cx="53949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2971800"/>
            <a:ext cx="457200" cy="150876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42900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08152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8"/>
                </a:solidFill>
              </a:rPr>
              <a:t>Cole o SQL de atualização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447288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Copie TODO o conteúdo do arquivo  supabase/migrations/002_features.sql  e cole na caixa de texto.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4663440"/>
            <a:ext cx="539496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92240" y="4663440"/>
            <a:ext cx="457200" cy="150876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512064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77316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8"/>
                </a:solidFill>
              </a:rPr>
              <a:t>Execute o SQL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5138927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Clique no botão verde 'Run' (ou pressione Ctrl+Enter). Aguarde a mensagem 'Success'.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641908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5C00"/>
                </a:solidFill>
              </a:rPr>
              <a:t>⚠️  Se aparecer erro 'already exists', ignore — significa que a tabela já foi criada anteriormente. Continue.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28600"/>
            <a:ext cx="1463040" cy="36576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2560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ETAPA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2286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A38"/>
                </a:solidFill>
              </a:rPr>
              <a:t>Enviar o código atualizado para o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O GitHub guarda todos os arquivos do sistema. Precisamos enviar a versão nova.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8"/>
                </a:solidFill>
              </a:rPr>
              <a:t>Escolha UMA das opções abaixo: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53035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5303520" cy="41148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OPÇÃO A — GitHub Desktop (recomendado)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8"/>
                </a:solidFill>
              </a:rPr>
              <a:t>1. Abra o GitHub Desktop no computador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97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8"/>
                </a:solidFill>
              </a:rPr>
              <a:t>2. Selecione o repositório do PsicoDoc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00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8"/>
                </a:solidFill>
              </a:rPr>
              <a:t>3. Ele mostrará automaticamente todos</a:t>
            </a:r>
          </a:p>
          <a:p>
            <a:pPr algn="l"/>
            <a:r>
              <a:rPr sz="1200" b="0">
                <a:solidFill>
                  <a:srgbClr val="1E2A38"/>
                </a:solidFill>
              </a:rPr>
              <a:t>    os arquivos alterados (em verde)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8"/>
                </a:solidFill>
              </a:rPr>
              <a:t>4. No campo 'Summary' escreva:</a:t>
            </a:r>
          </a:p>
          <a:p>
            <a:pPr algn="l"/>
            <a:r>
              <a:rPr sz="1200" b="0">
                <a:solidFill>
                  <a:srgbClr val="1E2A38"/>
                </a:solidFill>
              </a:rPr>
              <a:t>    Atualização versão 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06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8"/>
                </a:solidFill>
              </a:rPr>
              <a:t>5. Clique em 'Commit to main'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09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8"/>
                </a:solidFill>
              </a:rPr>
              <a:t>6. Clique em 'Push origin'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12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AE8E"/>
                </a:solidFill>
              </a:rPr>
              <a:t>✅  Pronto! Código enviado.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691640"/>
            <a:ext cx="53035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691640"/>
            <a:ext cx="5303520" cy="4114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OPÇÃO B — Pelo site do GitHub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8"/>
                </a:solidFill>
              </a:rPr>
              <a:t>1. Acesse github.com e abra seu repositório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697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8"/>
                </a:solidFill>
              </a:rPr>
              <a:t>2. Clique em 'Add file' &gt; 'Upload files'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2004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8"/>
                </a:solidFill>
              </a:rPr>
              <a:t>3. Arraste TODOS os arquivos/pastas</a:t>
            </a:r>
          </a:p>
          <a:p>
            <a:pPr algn="l"/>
            <a:r>
              <a:rPr sz="1200" b="0">
                <a:solidFill>
                  <a:srgbClr val="1E2A38"/>
                </a:solidFill>
              </a:rPr>
              <a:t>    atualizados para a área de upload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703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8"/>
                </a:solidFill>
              </a:rPr>
              <a:t>4. No campo 'Commit changes'</a:t>
            </a:r>
          </a:p>
          <a:p>
            <a:pPr algn="l"/>
            <a:r>
              <a:rPr sz="1200" b="0">
                <a:solidFill>
                  <a:srgbClr val="1E2A38"/>
                </a:solidFill>
              </a:rPr>
              <a:t>    escreva: Atualização versão 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2062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A38"/>
                </a:solidFill>
              </a:rPr>
              <a:t>5. Clique em 'Commit changes'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709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AE8E"/>
                </a:solidFill>
              </a:rPr>
              <a:t>✅  Pronto! Código enviado.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3474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4748B"/>
                </a:solidFill>
              </a:rPr>
              <a:t>OU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28600"/>
            <a:ext cx="1463040" cy="36576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2560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ETAPA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2286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A38"/>
                </a:solidFill>
              </a:rPr>
              <a:t>Verificar o deploy automático na Vercel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Após o envio para o GitHub, a Vercel detecta automaticamente e publica a nova versão.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A38"/>
                </a:solidFill>
              </a:rPr>
              <a:t>Como verificar: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108813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457200" cy="9601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856231"/>
            <a:ext cx="9235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8"/>
                </a:solidFill>
              </a:rPr>
              <a:t>Acesse vercel.com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24028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Faça login com a mesma conta que você usou para fazer o deploy.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880360"/>
            <a:ext cx="108813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880360"/>
            <a:ext cx="457200" cy="9601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089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953512"/>
            <a:ext cx="9235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8"/>
                </a:solidFill>
              </a:rPr>
              <a:t>Clique no projeto PsicoDoc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33756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Na lista de projetos, clique no card do PsicoDoc.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977639"/>
            <a:ext cx="108813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977639"/>
            <a:ext cx="457200" cy="9601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050791"/>
            <a:ext cx="9235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8"/>
                </a:solidFill>
              </a:rPr>
              <a:t>Acompanhe o 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43484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Você verá um card 'Deployments'. O mais recente mostrará 'Building...' e depois 'Ready'.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74920"/>
            <a:ext cx="108813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074920"/>
            <a:ext cx="457200" cy="96012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035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148072"/>
            <a:ext cx="9235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A38"/>
                </a:solidFill>
              </a:rPr>
              <a:t>Acesse o sistema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53212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Clique no link do seu domínio (ex.: psicodoc.vercel.app) para confirmar que está funcionando.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solidFill>
            <a:srgbClr val="E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5C35"/>
                </a:solidFill>
              </a:rPr>
              <a:t>⏱  Normalmente o deploy leva entre 1 e 3 minutos. Se demorar mais de 10 minutos, atualize a página.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B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28600"/>
            <a:ext cx="1920240" cy="365760"/>
          </a:xfrm>
          <a:prstGeom prst="rect">
            <a:avLst/>
          </a:prstGeom>
          <a:solidFill>
            <a:srgbClr val="7B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2560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VERIFICAÇÃO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A38"/>
                </a:solidFill>
              </a:rPr>
              <a:t>Testar as novas funcionalidades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Após o deploy, faça um teste rápido para confirmar que tudo está funcionando: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53949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80160"/>
            <a:ext cx="411480" cy="146304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19" y="1371600"/>
            <a:ext cx="228600" cy="2286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13533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13716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8"/>
                </a:solidFill>
              </a:rPr>
              <a:t>Prontuário do paciente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755648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Abra um paciente e confirme que a aba 'Laudo' aparece (5ª aba)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971800"/>
            <a:ext cx="53949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971800"/>
            <a:ext cx="411480" cy="146304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19" y="3063240"/>
            <a:ext cx="228600" cy="2286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30449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3063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8"/>
                </a:solidFill>
              </a:rPr>
              <a:t>Status dos pacientes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3447288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Na lista de pacientes, verifique se os status mostram 'Acompanhamento', 'Em Avaliação' ou 'Alta'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663440"/>
            <a:ext cx="53949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663440"/>
            <a:ext cx="411480" cy="146304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19" y="4754879"/>
            <a:ext cx="228600" cy="2286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19" y="47365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19" y="475487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8"/>
                </a:solidFill>
              </a:rPr>
              <a:t>Agenda — sessão recorrente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19" y="5138927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Na agenda, clique em + Novo agendamento e veja a opção 'Repetir' (semanal/quinzenal/mensal)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1280160"/>
            <a:ext cx="53949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1280160"/>
            <a:ext cx="411480" cy="146304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0" y="1371600"/>
            <a:ext cx="228600" cy="2286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13533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13716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8"/>
                </a:solidFill>
              </a:rPr>
              <a:t>Contratos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1755648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No menu lateral, clique em 'Contratos' e tente criar um novo contrato para um paciente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2971800"/>
            <a:ext cx="53949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92240" y="2971800"/>
            <a:ext cx="411480" cy="146304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0" y="3063240"/>
            <a:ext cx="228600" cy="2286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30449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063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8"/>
                </a:solidFill>
              </a:rPr>
              <a:t>Link de assinatura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3447288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Após criar um contrato, copie o link gerado, abra numa aba anônima e veja a tela de assinatura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4663440"/>
            <a:ext cx="539496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92240" y="4663440"/>
            <a:ext cx="411480" cy="1463040"/>
          </a:xfrm>
          <a:prstGeom prst="rect">
            <a:avLst/>
          </a:prstGeom>
          <a:solidFill>
            <a:srgbClr val="7B6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0" y="4754879"/>
            <a:ext cx="228600" cy="2286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47365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4754879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38"/>
                </a:solidFill>
              </a:rPr>
              <a:t>Configurações — WhatsApp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5138927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Acesse Configurações e role até o final para ver a seção de integração com WhatsApp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28600"/>
            <a:ext cx="1645920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25603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OPCIONAL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2286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A38"/>
                </a:solidFill>
              </a:rPr>
              <a:t>Configurar WhatsApp automático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Para ativar os lembretes e mensagens de aniversário, siga as instruções abaixo: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539496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80160"/>
            <a:ext cx="5394960" cy="41148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25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Evolution API (gratuito — self-hosted)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</a:rPr>
              <a:t>1. Acesse railway.app e crie conta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5856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</a:rPr>
              <a:t>2. Clique 'New Project' &gt; busque 'Evolution API'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3405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</a:rPr>
              <a:t>3. Deploy com os padrões sugeridos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09544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</a:rPr>
              <a:t>4. Após subir, copie a URL do projeto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8503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</a:rPr>
              <a:t>5. Acesse URL/instance/create e crie uma instância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6052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</a:rPr>
              <a:t>6. Escaneie o QR Code com o WhatsApp do consultório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3600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</a:rPr>
              <a:t>7. No PsicoDoc: Configurações &gt; WhatsApp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1149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</a:rPr>
              <a:t>8. Cole: URL, nome da instância e token (apikey)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86984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</a:rPr>
              <a:t>9. Ative os lembretes e salve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280160"/>
            <a:ext cx="539496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280160"/>
            <a:ext cx="5394960" cy="41148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325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Z-API (pago — mais simples)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7830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</a:rPr>
              <a:t>1. Acesse z-api.io e crie uma conta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25856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</a:rPr>
              <a:t>2. Crie uma nova instância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73405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</a:rPr>
              <a:t>3. Escaneie o QR Code com seu WhatsApp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209544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</a:rPr>
              <a:t>4. Copie o ID da instância e o Token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68503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</a:rPr>
              <a:t>5. No PsicoDoc: Configurações &gt; WhatsApp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16052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</a:rPr>
              <a:t>6. Selecione 'Z-API' como provedor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3600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</a:rPr>
              <a:t>7. Cole: URL (https://api.z-api.io),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11149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</a:rPr>
              <a:t>    ID da instância e Token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586984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</a:rPr>
              <a:t>8. Ative os lembretes e salve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00800"/>
            <a:ext cx="10881360" cy="34747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64282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5C00"/>
                </a:solidFill>
              </a:rPr>
              <a:t>⚠️  Os lembretes precisam ser disparados manualmente ou via cron job. Veja o slide de automação na documentação técnica.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9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28600"/>
            <a:ext cx="1463040" cy="365760"/>
          </a:xfrm>
          <a:prstGeom prst="rect">
            <a:avLst/>
          </a:prstGeom>
          <a:solidFill>
            <a:srgbClr val="D9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2560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SUPORTE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2286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A38"/>
                </a:solidFill>
              </a:rPr>
              <a:t>Problemas comuns e como resolver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539496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5394960" cy="34747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984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 SQL deu erro 'already exists'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73352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Sem problema! Significa que essa parte já foi criada antes. Você pode ignorar esse erro e continuar.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1576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AE8E"/>
                </a:solidFill>
              </a:rPr>
              <a:t>✅  Solução: Ignore o erro e execute o restante do script.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03320"/>
            <a:ext cx="539496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703320"/>
            <a:ext cx="5394960" cy="34747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673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 deploy na Vercel ficou travado em 'Building'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42232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Pode acontecer em caso de erro no código. Acesse vercel.com &gt; seu projeto &gt; Deployments &gt; clique no deploy com erro.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8464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AE8E"/>
                </a:solidFill>
              </a:rPr>
              <a:t>✅  Solução: Leia os logs de erro e entre em contato com o suporte.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234440"/>
            <a:ext cx="539496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92240" y="1234440"/>
            <a:ext cx="5394960" cy="347472"/>
          </a:xfrm>
          <a:prstGeom prst="rect">
            <a:avLst/>
          </a:prstGeom>
          <a:solidFill>
            <a:srgbClr val="D9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12984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 site abriu mas está com erro 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673352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Geralmente significa que as variáveis de ambiente estão faltando ou o SQL não foi executado.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71576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AE8E"/>
                </a:solidFill>
              </a:rPr>
              <a:t>✅  Solução: Confira se a ETAPA 1 (SQL) foi concluída e verifique as variáveis na Vercel.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703320"/>
            <a:ext cx="539496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92240" y="3703320"/>
            <a:ext cx="5394960" cy="347472"/>
          </a:xfrm>
          <a:prstGeom prst="rect">
            <a:avLst/>
          </a:prstGeom>
          <a:solidFill>
            <a:srgbClr val="D9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7673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Os pacientes sumiram ou o status está errado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142232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O SQL de migração atualiza os status antigos (active → acompanhamento). Execute o SQL novamente.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18464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AE8E"/>
                </a:solidFill>
              </a:rPr>
              <a:t>✅  Solução: Execute novamente o arquivo 002_features.sql no Supabase.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9 /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4F7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12080" y="5486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0" i="0">
                <a:solidFill>
                  <a:srgbClr val="6BAE8E"/>
                </a:solidFill>
              </a:rPr>
              <a:t>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Sistema atualizado com sucesso!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0604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5DAF0"/>
                </a:solidFill>
              </a:rPr>
              <a:t>As 7 novas funcionalidades já estão disponíveis para a Lilian e seus pacientes.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246120"/>
            <a:ext cx="7772400" cy="45720"/>
          </a:xfrm>
          <a:prstGeom prst="rect">
            <a:avLst/>
          </a:prstGeom>
          <a:solidFill>
            <a:srgbClr val="6BA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📅  Data de nascimento aprimorada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3429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🏷️  Novos status de paciente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429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🔁  Agendamentos recorrentes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34290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💬  Lembretes por WhatsApp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🎂  Mensagens de aniversário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0233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📝  Contratos com assinatura 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0233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📋  Aba de Laudo no prontuário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0A8CC"/>
                </a:solidFill>
              </a:rPr>
              <a:t>PsicoDoc v2.0 · Abril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