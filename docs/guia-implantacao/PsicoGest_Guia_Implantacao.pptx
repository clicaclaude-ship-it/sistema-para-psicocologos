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365760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PsicoGest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5DAF0"/>
                </a:solidFill>
              </a:rPr>
              <a:t>Prontuário Eletrônico para Psicólogos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31720"/>
            <a:ext cx="5029200" cy="45720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Guia Completo de Implantação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5DAF0"/>
                </a:solidFill>
              </a:rPr>
              <a:t>Passo a passo para colocar o sistema no ar — sem precisar saber programar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389120"/>
            <a:ext cx="3291840" cy="457200"/>
          </a:xfrm>
          <a:prstGeom prst="rect">
            <a:avLst/>
          </a:prstGeom>
          <a:solidFill>
            <a:srgbClr val="1A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41655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⏱  Tempo estimado: 40 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4389120"/>
            <a:ext cx="3474720" cy="457200"/>
          </a:xfrm>
          <a:prstGeom prst="rect">
            <a:avLst/>
          </a:prstGeom>
          <a:solidFill>
            <a:srgbClr val="1A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4416552"/>
            <a:ext cx="3291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💰  Custo: R$ 0 (plano gratuito)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4389120"/>
            <a:ext cx="3200400" cy="457200"/>
          </a:xfrm>
          <a:prstGeom prst="rect">
            <a:avLst/>
          </a:prstGeom>
          <a:solidFill>
            <a:srgbClr val="1A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44165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🔒  LGPD: Dados no Brasil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A8CC"/>
                </a:solidFill>
              </a:rPr>
              <a:t>Versão 1.0 · Abril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7848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2A38"/>
                </a:solidFill>
              </a:rPr>
              <a:t>O que você vai precisar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</a:rPr>
              <a:t>Nenhum conhecimento técnico necessário. Apenas estes itens: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916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A38"/>
                </a:solidFill>
              </a:rPr>
              <a:t>📧</a:t>
            </a:r>
          </a:p>
          <a:p>
            <a:pPr algn="l"/>
            <a:r>
              <a:rPr sz="1500" b="1">
                <a:solidFill>
                  <a:srgbClr val="1E2A38"/>
                </a:solidFill>
              </a:rPr>
              <a:t>Conta de e-mail</a:t>
            </a:r>
          </a:p>
          <a:p>
            <a:pPr algn="l"/>
            <a:r>
              <a:rPr sz="1500" b="1">
                <a:solidFill>
                  <a:srgbClr val="1E2A38"/>
                </a:solidFill>
              </a:rPr>
              <a:t>(Gmail recomendado)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9748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Você vai criar contas em</a:t>
            </a:r>
          </a:p>
          <a:p>
            <a:pPr algn="l"/>
            <a:r>
              <a:rPr sz="1300" b="0">
                <a:solidFill>
                  <a:srgbClr val="64748B"/>
                </a:solidFill>
              </a:rPr>
              <a:t>3 serviços gratuitos</a:t>
            </a:r>
          </a:p>
          <a:p>
            <a:pPr algn="l"/>
            <a:r>
              <a:rPr sz="1300" b="0">
                <a:solidFill>
                  <a:srgbClr val="64748B"/>
                </a:solidFill>
              </a:rPr>
              <a:t>com o mesmo e-mail.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916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A38"/>
                </a:solidFill>
              </a:rPr>
              <a:t>🌐</a:t>
            </a:r>
          </a:p>
          <a:p>
            <a:pPr algn="l"/>
            <a:r>
              <a:rPr sz="1500" b="1">
                <a:solidFill>
                  <a:srgbClr val="1E2A38"/>
                </a:solidFill>
              </a:rPr>
              <a:t>Navegador web</a:t>
            </a:r>
          </a:p>
          <a:p>
            <a:pPr algn="l"/>
            <a:r>
              <a:rPr sz="1500" b="1">
                <a:solidFill>
                  <a:srgbClr val="1E2A38"/>
                </a:solidFill>
              </a:rPr>
              <a:t>(Chrome ou Edge)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9748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Todo o processo</a:t>
            </a:r>
          </a:p>
          <a:p>
            <a:pPr algn="l"/>
            <a:r>
              <a:rPr sz="1300" b="0">
                <a:solidFill>
                  <a:srgbClr val="64748B"/>
                </a:solidFill>
              </a:rPr>
              <a:t>acontece no navegador.</a:t>
            </a:r>
          </a:p>
          <a:p>
            <a:pPr algn="l"/>
            <a:r>
              <a:rPr sz="1300" b="0">
                <a:solidFill>
                  <a:srgbClr val="64748B"/>
                </a:solidFill>
              </a:rPr>
              <a:t>Nada para instalar.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59" y="155448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39" y="16916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A38"/>
                </a:solidFill>
              </a:rPr>
              <a:t>📁</a:t>
            </a:r>
          </a:p>
          <a:p>
            <a:pPr algn="l"/>
            <a:r>
              <a:rPr sz="1500" b="1">
                <a:solidFill>
                  <a:srgbClr val="1E2A38"/>
                </a:solidFill>
              </a:rPr>
              <a:t>Arquivos do sistema</a:t>
            </a:r>
          </a:p>
          <a:p>
            <a:pPr algn="l"/>
            <a:r>
              <a:rPr sz="1500" b="1">
                <a:solidFill>
                  <a:srgbClr val="1E2A38"/>
                </a:solidFill>
              </a:rPr>
              <a:t>(pasta do projeto)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39" y="269748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A pasta 'Sistema para</a:t>
            </a:r>
          </a:p>
          <a:p>
            <a:pPr algn="l"/>
            <a:r>
              <a:rPr sz="1300" b="0">
                <a:solidFill>
                  <a:srgbClr val="64748B"/>
                </a:solidFill>
              </a:rPr>
              <a:t>psicólogos' com todos</a:t>
            </a:r>
          </a:p>
          <a:p>
            <a:pPr algn="l"/>
            <a:r>
              <a:rPr sz="1300" b="0">
                <a:solidFill>
                  <a:srgbClr val="64748B"/>
                </a:solidFill>
              </a:rPr>
              <a:t>os arquivos do PsicoGest.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A38"/>
                </a:solidFill>
              </a:rPr>
              <a:t>Os 6 passos da implantação: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617720"/>
            <a:ext cx="1645920" cy="155448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7091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04288" y="5029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4617720"/>
            <a:ext cx="1645920" cy="155448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06039" y="47091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Supabase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(banco)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4528" y="5029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617720"/>
            <a:ext cx="1645920" cy="1554480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47091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5029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617720"/>
            <a:ext cx="1645920" cy="1554480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7091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Storage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65008" y="5029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4617720"/>
            <a:ext cx="1645920" cy="155448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47091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Vercel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(deploy)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85248" y="5029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41280" y="4617720"/>
            <a:ext cx="1645920" cy="1554480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87000" y="47091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Finalizar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1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7848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28600"/>
            <a:ext cx="1463040" cy="36576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2560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PASSO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A38"/>
                </a:solidFill>
              </a:rPr>
              <a:t>Criar conta no GitHub e enviar o código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O GitHub guarda os arquivos do sistema. A Vercel (próximo passo) lê daqui para publicar.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02920" cy="50292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8"/>
                </a:solidFill>
              </a:rPr>
              <a:t>Acesse github.com e clique em 'Sign up'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7099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Use seu e-mail e crie uma senha. Confirme pelo e-mail recebido.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02920" cy="50292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651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8"/>
                </a:solidFill>
              </a:rPr>
              <a:t>Crie um novo repositório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03580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Clique em '+' → 'New repository'. Nome: psicogest. Marque 'Private'. Clique 'Create repository'.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77639"/>
            <a:ext cx="502920" cy="50292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7763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9776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8"/>
                </a:solidFill>
              </a:rPr>
              <a:t>Faça upload dos arquivos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36168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Na página do repositório, clique 'uploading an existing file'. Arraste a pasta inteira do PsicoGest. Clique 'Commit changes'.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303520"/>
            <a:ext cx="502920" cy="50292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303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8"/>
                </a:solidFill>
              </a:rPr>
              <a:t>Aguarde o upload concluir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68756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Pode demorar alguns minutos dependendo da sua internet. Ao terminar, os arquivos aparecem listados.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400800"/>
            <a:ext cx="10698480" cy="34747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6419088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F7CAC"/>
                </a:solidFill>
              </a:rPr>
              <a:t>💡  Não sabe usar Git? Tudo bem! O upload pela interface web do GitHub é suficiente.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2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7848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28600"/>
            <a:ext cx="1463040" cy="365760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2560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PASSO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A38"/>
                </a:solidFill>
              </a:rPr>
              <a:t>Criar conta e projeto no Supabase (banco de dados)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O Supabase armazena todos os dados dos pacientes com segurança, no Brasil.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02920" cy="502920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8"/>
                </a:solidFill>
              </a:rPr>
              <a:t>Acesse supabase.com → 'Start your project'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7099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Faça login com sua conta do GitHub (clique 'Continue with GitHub'). Autorize o acesso.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02920" cy="502920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651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8"/>
                </a:solidFill>
              </a:rPr>
              <a:t>Clique em 'New project'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03580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Preencha: Nome do projeto = psicogest | Senha do banco = crie uma senha forte (anote!) | Região = South America (São Paulo)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77639"/>
            <a:ext cx="502920" cy="502920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7763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9776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8"/>
                </a:solidFill>
              </a:rPr>
              <a:t>Aguarde a criação do projeto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36168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Leva cerca de 2 minutos. Uma barra de progresso aparece. Não feche a aba!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303520"/>
            <a:ext cx="502920" cy="502920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303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8"/>
                </a:solidFill>
              </a:rPr>
              <a:t>Copie as credenciais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68756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No painel do projeto, clique em 'Project Settings' → 'API'. Copie o 'Project URL' e o 'anon public key'. Você vai precisar deles no Passo 6.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400800"/>
            <a:ext cx="10698480" cy="34747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6419088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AE8E"/>
                </a:solidFill>
              </a:rPr>
              <a:t>🔒  Região São Paulo = dados dos seus pacientes ficam no Brasil (exigência LGPD).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3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7848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28600"/>
            <a:ext cx="1463040" cy="365760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2560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PASSO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A38"/>
                </a:solidFill>
              </a:rPr>
              <a:t>Criar as tabelas do banco de dados (SQL)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Você não precisa entender SQL. É só copiar e colar um arquivo pronto.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02920" cy="502920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8"/>
                </a:solidFill>
              </a:rPr>
              <a:t>No Supabase, abra o 'SQL Editor'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7099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No menu lateral esquerdo, clique no ícone de banco de dados → 'SQL Editor'. Uma tela de código vai aparecer.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02920" cy="502920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651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8"/>
                </a:solidFill>
              </a:rPr>
              <a:t>Abra o arquivo de migração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03580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No seu computador, abra a pasta do PsicoGest → supabase → migrations → '001_initial_schema.sql'. Abra com o Bloco de Notas.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77639"/>
            <a:ext cx="502920" cy="502920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7763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9776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8"/>
                </a:solidFill>
              </a:rPr>
              <a:t>Copie todo o conteúdo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36168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Selecione tudo (Ctrl+A) e copie (Ctrl+C). Depois cole (Ctrl+V) na tela do SQL Editor do Supabase.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303520"/>
            <a:ext cx="502920" cy="502920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303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8"/>
                </a:solidFill>
              </a:rPr>
              <a:t>Clique em 'Run' (botão verde)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68756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O Supabase vai criar todas as tabelas e configurações de segurança automaticamente. Aparecerá 'Success. No rows returned'.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400800"/>
            <a:ext cx="10698480" cy="34747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6419088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AE8E"/>
                </a:solidFill>
              </a:rPr>
              <a:t>✅  Após o 'Run', as tabelas de pacientes, consultas, prontuários e documentos estarão criadas.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4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7848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28600"/>
            <a:ext cx="1463040" cy="365760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2560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PASSO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A38"/>
                </a:solidFill>
              </a:rPr>
              <a:t>Criar o espaço para arquivos (Storage)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Aqui ficam guardados os laudos, relatórios e documentos dos pacientes.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8"/>
                </a:solidFill>
              </a:rPr>
              <a:t>No Supabase, clique em 'Storage' no menu lateral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75564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O ícone parece uma pasta/nuvem. A tela de armazenamento vai abrir.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834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8"/>
                </a:solidFill>
              </a:rPr>
              <a:t>Clique em 'New bucket' (novo compartimento)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21868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Na tela que abrir, preencha: Nome = documents | Marque 'Public bucket' ✓ | Clique 'Save'.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297680"/>
            <a:ext cx="502920" cy="502920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8"/>
                </a:solidFill>
              </a:rPr>
              <a:t>Confirme que o bucket foi criado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6817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Você verá 'documents' listado na tela de Storage. Isso é tudo!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806440"/>
            <a:ext cx="10698480" cy="502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870448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AE8E"/>
                </a:solidFill>
              </a:rPr>
              <a:t>📋  Supabase concluído! Você já tem: banco de dados ✓   tabelas criadas ✓   storage configurado 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5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7848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28600"/>
            <a:ext cx="1463040" cy="36576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2560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PASSO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A38"/>
                </a:solidFill>
              </a:rPr>
              <a:t>Publicar o sistema na Vercel (o site no 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A Vercel publica o PsicoGest na internet de forma gratuita. É o provedor recomendado para este sistema.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02920" cy="5029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8"/>
                </a:solidFill>
              </a:rPr>
              <a:t>Acesse vercel.com → 'Start Deploying'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7099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Faça login com sua conta do GitHub (botão 'Continue with GitHub'). Autorize o acesso quando solicitado.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02920" cy="5029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651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8"/>
                </a:solidFill>
              </a:rPr>
              <a:t>Importe o repositório do PsicoGest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03580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Clique 'Add New → Project'. Procure 'psicogest' na lista e clique 'Import'.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77639"/>
            <a:ext cx="502920" cy="5029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7763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9776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8"/>
                </a:solidFill>
              </a:rPr>
              <a:t>Configure o projeto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36168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Em 'Framework Preset' selecione 'Next.js'. Deixe as outras opções como estão. NÃO clique em Deploy ainda.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303520"/>
            <a:ext cx="502920" cy="5029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303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8"/>
                </a:solidFill>
              </a:rPr>
              <a:t>Adicione as variáveis de ambiente (IMPORTANTE)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68756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Clique em 'Environment Variables'. Você vai adicionar 2 variáveis — veja o próximo slide.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400800"/>
            <a:ext cx="10698480" cy="347472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6419088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838"/>
                </a:solidFill>
              </a:rPr>
              <a:t>⚠️  Não clique em Deploy antes de adicionar as variáveis de ambiente no Passo 6!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6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7848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28600"/>
            <a:ext cx="1463040" cy="36576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2560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PASSO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A38"/>
                </a:solidFill>
              </a:rPr>
              <a:t>Configurar as variáveis de ambiente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São as 'senhas' que conectam a Vercel ao Supabase. Você obteve esses valores no Passo 2.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10698480" cy="41148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44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Nome da Variável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34416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Onde encontrar no Supabase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691640"/>
            <a:ext cx="106984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691640"/>
            <a:ext cx="54864" cy="100584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7647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38"/>
                </a:solidFill>
              </a:rPr>
              <a:t>NEXT_PUBLIC_SUPABASE_URL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764792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Project Settings → API → 'Project URL'</a:t>
            </a:r>
          </a:p>
          <a:p>
            <a:pPr algn="l"/>
            <a:r>
              <a:rPr sz="1200" b="0">
                <a:solidFill>
                  <a:srgbClr val="64748B"/>
                </a:solidFill>
              </a:rPr>
              <a:t>Ex: https://xyzabc.supabase.co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88920"/>
            <a:ext cx="10698480" cy="100584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788920"/>
            <a:ext cx="54864" cy="100584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8620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38"/>
                </a:solidFill>
              </a:rPr>
              <a:t>NEXT_PUBLIC_SUPABASE_ANON_KEY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862072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Project Settings → API → 'anon public'</a:t>
            </a:r>
          </a:p>
          <a:p>
            <a:pPr algn="l"/>
            <a:r>
              <a:rPr sz="1200" b="0">
                <a:solidFill>
                  <a:srgbClr val="64748B"/>
                </a:solidFill>
              </a:rPr>
              <a:t>Chave longa começando com 'eyJh...'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977639"/>
            <a:ext cx="10698480" cy="137160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Após adicionar as 2 variáveis: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526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DAF0"/>
                </a:solidFill>
              </a:rPr>
              <a:t>1.  Clique no botão 'Deploy' (azul, na parte inferior da página).</a:t>
            </a:r>
          </a:p>
          <a:p>
            <a:pPr algn="l"/>
            <a:r>
              <a:rPr sz="1300" b="0">
                <a:solidFill>
                  <a:srgbClr val="C5DAF0"/>
                </a:solidFill>
              </a:rPr>
              <a:t>2.  Aguarde cerca de 3 minutos enquanto o sistema é publicado.</a:t>
            </a:r>
          </a:p>
          <a:p>
            <a:pPr algn="l"/>
            <a:r>
              <a:rPr sz="1300" b="0">
                <a:solidFill>
                  <a:srgbClr val="C5DAF0"/>
                </a:solidFill>
              </a:rPr>
              <a:t>3.  Ao finalizar, a Vercel mostra confetes 🎉 e um link para o seu sistema!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440680"/>
            <a:ext cx="10698480" cy="64008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532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AE8E"/>
                </a:solidFill>
              </a:rPr>
              <a:t>✅  Seu link ficará parecido com: https://psicogest-seunome.vercel.app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7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7848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28600"/>
            <a:ext cx="1920240" cy="36576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2560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ALTERNATIVA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A38"/>
                </a:solidFill>
              </a:rPr>
              <a:t>Deploy na Hostinger (plano pago)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229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A38"/>
                </a:solidFill>
              </a:rPr>
              <a:t>Por que a Vercel é recomendada?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8229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A38"/>
                </a:solidFill>
              </a:rPr>
              <a:t>Quando usar a Hostinger?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3035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8"/>
                </a:solidFill>
              </a:rPr>
              <a:t>✅  Gratuita para projetos assim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299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8"/>
                </a:solidFill>
              </a:rPr>
              <a:t>✅  Feita para Next.js (mesma empresa)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9689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8"/>
                </a:solidFill>
              </a:rPr>
              <a:t>✅  Deploy automático a cada atualização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6382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8"/>
                </a:solidFill>
              </a:rPr>
              <a:t>✅  HTTPS automático e CDN global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307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8"/>
                </a:solidFill>
              </a:rPr>
              <a:t>✅  Zero configuração de servidor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325880"/>
            <a:ext cx="53035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8"/>
                </a:solidFill>
              </a:rPr>
              <a:t>✅  Você já tem a hospedagem paga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0299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8"/>
                </a:solidFill>
              </a:rPr>
              <a:t>✅  Quer domínio e e-mail profissional juntos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59689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8"/>
                </a:solidFill>
              </a:rPr>
              <a:t>✅  Prefere centralizar tudo num só lugar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16382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A838"/>
                </a:solidFill>
              </a:rPr>
              <a:t>⚠️  Requer plano Business ou VPS (Node.js)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7307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A838"/>
                </a:solidFill>
              </a:rPr>
              <a:t>⚠️  Configuração mais técnica necessária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663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A38"/>
                </a:solidFill>
              </a:rPr>
              <a:t>Se optar pela Hostinger: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1206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1. Contrate o plano 'Business' ou superior (tem suporte a Node.js)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50468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2. No painel hPanel → Node.js → 'Create application' → Version 20 → App root: 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8873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3. Conecte ao GitHub ou faça upload via FTP (usando o FileZilla)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272783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4. Adicione as variáveis de ambiente no painel → Execute 'npm run build &amp;&amp; npm start'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8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7848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28600"/>
            <a:ext cx="2011680" cy="365760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256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CONCLUÍDO 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2286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A38"/>
                </a:solidFill>
              </a:rPr>
              <a:t>Sistema no ar! Primeiros passos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229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A38"/>
                </a:solidFill>
              </a:rPr>
              <a:t>Checklist de verificação: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80744"/>
            <a:ext cx="347472" cy="347472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624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325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8"/>
                </a:solidFill>
              </a:rPr>
              <a:t>Abra o link da Vercel no navegador — a landing page do PsicoGest deve aparecer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47672"/>
            <a:ext cx="347472" cy="347472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2938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892807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8"/>
                </a:solidFill>
              </a:rPr>
              <a:t>Clique em 'Criar conta grátis' e cadastre-se como psicólogo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14600"/>
            <a:ext cx="347472" cy="347472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4963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45973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8"/>
                </a:solidFill>
              </a:rPr>
              <a:t>Complete o onboarding (3 passos: perfil → paciente → agenda)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081527"/>
            <a:ext cx="347472" cy="347472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06323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026663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8"/>
                </a:solidFill>
              </a:rPr>
              <a:t>Cadastre um paciente de teste e registre uma sessão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48456"/>
            <a:ext cx="347472" cy="347472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3016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593591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8"/>
                </a:solidFill>
              </a:rPr>
              <a:t>Verifique se o upload de documento funciona na aba 'Documentos'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215383"/>
            <a:ext cx="347472" cy="347472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1970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160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8"/>
                </a:solidFill>
              </a:rPr>
              <a:t>Acesse pelo celular e confirme que a interface está responsiva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937760"/>
            <a:ext cx="10698480" cy="15544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7CAC"/>
                </a:solidFill>
              </a:rPr>
              <a:t>Próximos passos após validar com a Lilian: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440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💰  Integrar pagamento (Stripe ou Asaas) para cobrar a assinatura mensal — Fase 4 do projeto</a:t>
            </a:r>
          </a:p>
          <a:p>
            <a:pPr algn="l"/>
            <a:r>
              <a:rPr sz="1200" b="0">
                <a:solidFill>
                  <a:srgbClr val="64748B"/>
                </a:solidFill>
              </a:rPr>
              <a:t>📲  Configurar domínio personalizado (ex: psicogest.com.br) na Vercel</a:t>
            </a:r>
          </a:p>
          <a:p>
            <a:pPr algn="l"/>
            <a:r>
              <a:rPr sz="1200" b="0">
                <a:solidFill>
                  <a:srgbClr val="64748B"/>
                </a:solidFill>
              </a:rPr>
              <a:t>📧  Configurar e-mails transacionais (boas-vindas, lembretes)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9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7848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A38"/>
                </a:solidFill>
              </a:rPr>
              <a:t>Dúvidas frequentes e solução de problemas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106984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54864" cy="100584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14984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38"/>
                </a:solidFill>
              </a:rPr>
              <a:t>❓ O deploy falhou na Vercel. O que fazer?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Verifique se as 2 variáveis de ambiente foram adicionadas corretamente. Nomes e valores sem espaços extras.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6984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54864" cy="100584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12264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38"/>
                </a:solidFill>
              </a:rPr>
              <a:t>❓ Cadastrei paciente mas não aparece nada.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14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Confirme que o SQL foi executado no Supabase. Abra 'Table Editor' e veja se a tabela 'patients' existe.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54680"/>
            <a:ext cx="106984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154680"/>
            <a:ext cx="54864" cy="100584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09544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38"/>
                </a:solidFill>
              </a:rPr>
              <a:t>❓ Upload de documento não funciona.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11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Verifique se o bucket 'documents' foi criado no Supabase Storage (Passo 4). O nome deve ser exatamente 'documents'.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51959"/>
            <a:ext cx="106984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251959"/>
            <a:ext cx="54864" cy="100584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306823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38"/>
                </a:solidFill>
              </a:rPr>
              <a:t>❓ Quero um domínio .com.br no lugar do .vercel.app.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09159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Compre o domínio na Hostinger (ou outro registrador). Na Vercel, vá em Settings → Domains e adicione o domínio comprado.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349240"/>
            <a:ext cx="106984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349240"/>
            <a:ext cx="54864" cy="100584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404103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38"/>
                </a:solidFill>
              </a:rPr>
              <a:t>❓ Posso mudar a logo e o nome do sistema?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06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Sim. Edite o arquivo app/(public)/page.tsx para mudar a landing page e components/app-shell.tsx para o logo interno.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10 /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0"/>
            <a:ext cx="12191695" cy="320040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PsicoGest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3657600" cy="54864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Seu consultório organizado,
sua mente tranquila.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5DAF0"/>
                </a:solidFill>
              </a:rPr>
              <a:t>Sistema implantado com sucesso? Compartilhe com outros psicólogos! 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754880"/>
            <a:ext cx="4114800" cy="411480"/>
          </a:xfrm>
          <a:prstGeom prst="rect">
            <a:avLst/>
          </a:prstGeom>
          <a:solidFill>
            <a:srgbClr val="1A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8231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suporte: docs/PROGRESSO.md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4754880"/>
            <a:ext cx="3657600" cy="411480"/>
          </a:xfrm>
          <a:prstGeom prst="rect">
            <a:avLst/>
          </a:prstGeom>
          <a:solidFill>
            <a:srgbClr val="1A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478231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vercel.com  ·  supabase.com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A8CC"/>
                </a:solidFill>
              </a:rPr>
              <a:t>© 2026 PsicoGest · Versão 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